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Apex Prediction Markets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Avellaneda–Stoikov market making · Kalshi S&amp;P niche · results &amp;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Niche: S&amp;P / index prediction on Kalshi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Focused stack for short-dated binary-style contracts tied to realized SPX (or band) outcomes.</a:t>
            </a:r>
          </a:p>
          <a:p>
            <a:pPr>
              <a:defRPr sz="1800"/>
            </a:pPr>
            <a:r>
              <a:t>Rich local data: archived order-book frames (JSONL), snapshots, Kalshi market-bounds artifacts for replay bands.</a:t>
            </a:r>
          </a:p>
          <a:p>
            <a:pPr>
              <a:defRPr sz="1800"/>
            </a:pPr>
            <a:r>
              <a:t>External reference: Schwab/minute SPX history scripts to relate spot path to conditional fair value.</a:t>
            </a:r>
          </a:p>
          <a:p>
            <a:pPr>
              <a:defRPr sz="1800"/>
            </a:pPr>
            <a:r>
              <a:t>Single-market deep dives (tear sheets labeled may01 / may04 / may07) instead of scattering across many unrelated tickers.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depth (repository 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Live + paper paths: Kalshi (and optional Polymarket) WebSockets, discovery, storage.</a:t>
            </a:r>
          </a:p>
          <a:p>
            <a:pPr>
              <a:defRPr sz="1800"/>
            </a:pPr>
            <a:r>
              <a:t>Strategies package: legacy MM, copy-trading, alt-data — plus MM–AS (`src/strategies/market_making_as.py`).</a:t>
            </a:r>
          </a:p>
          <a:p>
            <a:pPr>
              <a:defRPr sz="1800"/>
            </a:pPr>
            <a:r>
              <a:t>Simulator layer: historical replay from frames, paper trading, metrics aligned with plotting.</a:t>
            </a:r>
          </a:p>
          <a:p>
            <a:pPr>
              <a:defRPr sz="1800"/>
            </a:pPr>
            <a:r>
              <a:t>Analysis: `mm_as_tear_sheet.py` (FIFO bucketed realized PnL, inventory/equity charts), Kalshi OB history/live analyzers.</a:t>
            </a:r>
          </a:p>
          <a:p>
            <a:pPr>
              <a:defRPr sz="1800"/>
            </a:pPr>
            <a:r>
              <a:t>Ops: CLI `scripts/run_strategy.py`, config via Pydantic (`MarketMakingAsSettings`).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Avellaneda–Stoikov: what we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Mid / fair value s: blend of book mid, optional model track; rolling realized σ from price history.</a:t>
            </a:r>
          </a:p>
          <a:p>
            <a:pPr>
              <a:defRPr sz="1800"/>
            </a:pPr>
            <a:r>
              <a:t>Reservation price r = s − q γ σ² τ (inventory q, risk aversion γ, horizon τ = T−t).</a:t>
            </a:r>
          </a:p>
          <a:p>
            <a:pPr>
              <a:defRPr sz="1800"/>
            </a:pPr>
            <a:r>
              <a:t>Half-spread from A-S formula, then clipped to [0, 0.49] for valid binary prices in [0,1].</a:t>
            </a:r>
          </a:p>
          <a:p>
            <a:pPr>
              <a:defRPr sz="1800"/>
            </a:pPr>
            <a:r>
              <a:t>Adaptive γ(ρ): widens risk aversion under regime stress (ρ from reversal-bucket score when enabled).</a:t>
            </a:r>
          </a:p>
          <a:p>
            <a:pPr>
              <a:defRPr sz="1800"/>
            </a:pPr>
            <a:r>
              <a:t>Regime score currently unwired (`MM_AS_REGIME_SCORE_ENABLED = False`) so ρ = 0 in production path.</a:t>
            </a:r>
          </a:p>
          <a:p>
            <a:pPr>
              <a:defRPr sz="1800"/>
            </a:pPr>
            <a:r>
              <a:t>Sizing: base fraction of max position, Cauchy/band-based fair value hooks, inventory taper + hard gate + quote skew near limits.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Configuration highlights (MarketMakingAsSettings)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023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Risk &amp; quotes</a:t>
            </a:r>
          </a:p>
          <a:p>
            <a:pPr>
              <a:spcAft>
                <a:spcPts val="600"/>
              </a:spcAft>
              <a:defRPr sz="1500"/>
            </a:pPr>
            <a:r>
              <a:t>γ_base, κ, session_horizon_seconds</a:t>
            </a:r>
          </a:p>
          <a:p>
            <a:pPr>
              <a:spcAft>
                <a:spcPts val="600"/>
              </a:spcAft>
              <a:defRPr sz="1500"/>
            </a:pPr>
            <a:r>
              <a:t>quote_update_interval, reprice threshold</a:t>
            </a:r>
          </a:p>
          <a:p>
            <a:pPr>
              <a:spcAft>
                <a:spcPts val="600"/>
              </a:spcAft>
              <a:defRPr sz="1500"/>
            </a:pPr>
            <a:r>
              <a:t>max_position (signed cap target)</a:t>
            </a:r>
          </a:p>
          <a:p>
            <a:pPr>
              <a:spcAft>
                <a:spcPts val="600"/>
              </a:spcAft>
              <a:defRPr sz="1500"/>
            </a:pPr>
            <a:r>
              <a:t>inventory_hard_gate_fraction, skew coeffs</a:t>
            </a:r>
          </a:p>
          <a:p>
            <a:pPr>
              <a:spcAft>
                <a:spcPts val="600"/>
              </a:spcAft>
              <a:defRPr sz="1500"/>
            </a:pPr>
            <a:r>
              <a:t>session_flatten_seconds before EOD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914400"/>
            <a:ext cx="4023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Discovery &amp; sim</a:t>
            </a:r>
          </a:p>
          <a:p>
            <a:pPr>
              <a:spcAft>
                <a:spcPts val="600"/>
              </a:spcAft>
              <a:defRPr sz="1500"/>
            </a:pPr>
            <a:r>
              <a:t>Kalshi/Poly discovery filters (spread, volume)</a:t>
            </a:r>
          </a:p>
          <a:p>
            <a:pPr>
              <a:spcAft>
                <a:spcPts val="600"/>
              </a:spcAft>
              <a:defRPr sz="1500"/>
            </a:pPr>
            <a:r>
              <a:t>Simulator: enforce_signed_inventory_cap backstop</a:t>
            </a:r>
          </a:p>
          <a:p>
            <a:pPr>
              <a:spcAft>
                <a:spcPts val="600"/>
              </a:spcAft>
              <a:defRPr sz="1500"/>
            </a:pPr>
            <a:r>
              <a:t>Historical: bounds JSON → band metadata bootstrap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Measurement: tear-sheet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FIFO pairing per market; realized PnL attributed to closing fill size bucket (0–50, …, 1000+).</a:t>
            </a:r>
          </a:p>
          <a:p>
            <a:pPr>
              <a:defRPr sz="1800"/>
            </a:pPr>
            <a:r>
              <a:t>Mark-to-market equity: cash from fills + inventory × last print (consistent with plot_backtest_graphics).</a:t>
            </a:r>
          </a:p>
          <a:p>
            <a:pPr>
              <a:defRPr sz="1800"/>
            </a:pPr>
            <a:r>
              <a:t>Reports: Markdown executive summary + PNG time series (inventory, cash/equity, bucket PnL, fills, VWAP spread).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snapshot (single Kalshi markets, ~6.5h sessions)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May 01 — fills 3,767 · MTM equity ~$16.3k vs cash ~$10.6k · max |inv| ~20.8k · max DD ~$4.1k.</a:t>
            </a:r>
          </a:p>
          <a:p>
            <a:pPr>
              <a:defRPr sz="1800"/>
            </a:pPr>
            <a:r>
              <a:t>May 04 — fills 1,792 · cash ~$4.5k vs MTM ~$3.9k · max |inv| ~60k (extreme directional book) · max DD ~$5.8k.</a:t>
            </a:r>
          </a:p>
          <a:p>
            <a:pPr>
              <a:defRPr sz="1800"/>
            </a:pPr>
            <a:r>
              <a:t>May 07 — fills 852 · MTM ~−$1.7k vs cash ~−$1.8k · max |inv| ~9.3k · max DD ~$2.6k.</a:t>
            </a:r>
          </a:p>
          <a:p>
            <a:pPr>
              <a:defRPr sz="1800"/>
            </a:pPr>
            <a:r>
              <a:t>Pattern: small/mid closing sizes often dominated P&amp;L in the “good” days; tail inventory remains the structural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Strengths vs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023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What looked good</a:t>
            </a:r>
          </a:p>
          <a:p>
            <a:pPr>
              <a:spcAft>
                <a:spcPts val="600"/>
              </a:spcAft>
              <a:defRPr sz="1500"/>
            </a:pPr>
            <a:r>
              <a:t>End-to-end path from data → replay → FIFO analytics.</a:t>
            </a:r>
          </a:p>
          <a:p>
            <a:pPr>
              <a:spcAft>
                <a:spcPts val="600"/>
              </a:spcAft>
              <a:defRPr sz="1500"/>
            </a:pPr>
            <a:r>
              <a:t>A-S machinery + binary clips + inventory-aware sizing hooks.</a:t>
            </a:r>
          </a:p>
          <a:p>
            <a:pPr>
              <a:spcAft>
                <a:spcPts val="600"/>
              </a:spcAft>
              <a:defRPr sz="1500"/>
            </a:pPr>
            <a:r>
              <a:t>Actionable diagnostics (bucketed realized, inventory spikes).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914400"/>
            <a:ext cx="4023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Where it breaks / next work</a:t>
            </a:r>
          </a:p>
          <a:p>
            <a:pPr>
              <a:spcAft>
                <a:spcPts val="600"/>
              </a:spcAft>
              <a:defRPr sz="1500"/>
            </a:pPr>
            <a:r>
              <a:t>Inventory explodes relative to “tight MM” — need stronger flattening, caps, or vol/λ calibration.</a:t>
            </a:r>
          </a:p>
          <a:p>
            <a:pPr>
              <a:spcAft>
                <a:spcPts val="600"/>
              </a:spcAft>
              <a:defRPr sz="1500"/>
            </a:pPr>
            <a:r>
              <a:t>Regime ρ path off — re-enable or replace with execution-level signal.</a:t>
            </a:r>
          </a:p>
          <a:p>
            <a:pPr>
              <a:spcAft>
                <a:spcPts val="600"/>
              </a:spcAft>
              <a:defRPr sz="1500"/>
            </a:pPr>
            <a:r>
              <a:t>Fees, latency tier, partial fills: label sim vs live explicitly.</a:t>
            </a:r>
          </a:p>
          <a:p>
            <a:pPr>
              <a:spcAft>
                <a:spcPts val="600"/>
              </a:spcAft>
              <a:defRPr sz="1500"/>
            </a:pPr>
            <a:r>
              <a:t>Fair value: stress-test Cauchy/band model vs pure mid under fast moves.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(concrete)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Tighten signed inventory path: lower effective κ or dynamic spread; kill-switch on inventory velocity.</a:t>
            </a:r>
          </a:p>
          <a:p>
            <a:pPr>
              <a:defRPr sz="1800"/>
            </a:pPr>
            <a:r>
              <a:t>Revisit γ, horizon τ, and max half-spread vs Kalshi tick structure.</a:t>
            </a:r>
          </a:p>
          <a:p>
            <a:pPr>
              <a:defRPr sz="1800"/>
            </a:pPr>
            <a:r>
              <a:t>Calibrate to arrival rate / queue position if OB data supports it.</a:t>
            </a:r>
          </a:p>
          <a:p>
            <a:pPr>
              <a:defRPr sz="1800"/>
            </a:pPr>
            <a:r>
              <a:t>Expand SPX-aligned features: joint plots of spot path vs quoted r and inventory.</a:t>
            </a:r>
          </a:p>
          <a:p>
            <a:pPr>
              <a:defRPr sz="1800"/>
            </a:pPr>
            <a:r>
              <a:t>Automate deck refresh: tie tear_sheet outputs into this script for dated runs.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May 07 — inventory (illustrative)</a:t>
            </a:r>
          </a:p>
        </p:txBody>
      </p:sp>
      <p:pic>
        <p:nvPicPr>
          <p:cNvPr id="4" name="Picture 3" descr="may07_mm_as_ts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8321040" cy="31776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May 07 — cash vs MTM equity</a:t>
            </a:r>
          </a:p>
        </p:txBody>
      </p:sp>
      <p:pic>
        <p:nvPicPr>
          <p:cNvPr id="4" name="Picture 3" descr="may07_mm_as_ts_cash_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8321040" cy="56729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Scripts &amp; entry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Strategy: `src/strategies/market_making_as.py`</a:t>
            </a:r>
          </a:p>
          <a:p>
            <a:pPr>
              <a:defRPr sz="1800"/>
            </a:pPr>
            <a:r>
              <a:t>Run: `python scripts/run_strategy.py --strategy market_making …`</a:t>
            </a:r>
          </a:p>
          <a:p>
            <a:pPr>
              <a:defRPr sz="1800"/>
            </a:pPr>
            <a:r>
              <a:t>Tear sheet: `python scripts/mm_as_tear_sheet.py --db-path … --out-dir reports/tear_*`</a:t>
            </a:r>
          </a:p>
          <a:p>
            <a:pPr>
              <a:defRPr sz="1800"/>
            </a:pPr>
            <a:r>
              <a:t>This deck: `python scripts/build_mm_as_presentation.py`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